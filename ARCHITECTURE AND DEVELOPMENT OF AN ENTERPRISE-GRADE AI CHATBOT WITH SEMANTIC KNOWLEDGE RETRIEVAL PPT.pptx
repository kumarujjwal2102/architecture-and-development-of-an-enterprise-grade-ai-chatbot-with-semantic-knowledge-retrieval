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18288000" cy="10287000"/>
  <p:notesSz cx="6858000" cy="9144000"/>
  <p:embeddedFontLst>
    <p:embeddedFont>
      <p:font typeface="Open Sans" panose="020B0606030504020204" pitchFamily="34" charset="0"/>
      <p:regular r:id="rId12"/>
    </p:embeddedFont>
    <p:embeddedFont>
      <p:font typeface="Open Sans Bold" panose="020B0604020202020204" charset="0"/>
      <p:regular r:id="rId13"/>
    </p:embeddedFont>
    <p:embeddedFont>
      <p:font typeface="Open Sans Bold Italics" panose="020B0604020202020204" charset="0"/>
      <p:regular r:id="rId14"/>
    </p:embeddedFont>
    <p:embeddedFont>
      <p:font typeface="Playfair Display" panose="00000500000000000000" pitchFamily="2" charset="0"/>
      <p:regular r:id="rId15"/>
    </p:embeddedFont>
    <p:embeddedFont>
      <p:font typeface="Playfair Display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67060" y="1047750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2277788" y="2576209"/>
            <a:ext cx="14981512" cy="3191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594"/>
              </a:lnSpc>
            </a:pPr>
            <a:r>
              <a:rPr lang="en-US" sz="4800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ARCHITECTURE AND DEVELOPMENT OF AN ENTERPRISE-GRADE AI CHATBOT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18759" y="6227066"/>
            <a:ext cx="7740541" cy="138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559"/>
              </a:lnSpc>
            </a:pPr>
            <a:r>
              <a:rPr lang="en-US" sz="4400" dirty="0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with semantic knowledge retrieval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815650" y="8522762"/>
            <a:ext cx="3443650" cy="76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91"/>
              </a:lnSpc>
            </a:pPr>
            <a:r>
              <a:rPr lang="en-US" sz="2164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NAME: UJJWAL KUMAR</a:t>
            </a:r>
          </a:p>
          <a:p>
            <a:pPr marL="0" lvl="0" indent="0" algn="r">
              <a:lnSpc>
                <a:spcPts val="1991"/>
              </a:lnSpc>
            </a:pPr>
            <a:r>
              <a:rPr lang="en-US" sz="2164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ENROLLMENT NO: 008180072223</a:t>
            </a:r>
          </a:p>
        </p:txBody>
      </p:sp>
      <p:grpSp>
        <p:nvGrpSpPr>
          <p:cNvPr id="6" name="Group 6"/>
          <p:cNvGrpSpPr/>
          <p:nvPr/>
        </p:nvGrpSpPr>
        <p:grpSpPr>
          <a:xfrm rot="-5400000">
            <a:off x="-3336144" y="3217055"/>
            <a:ext cx="10406087" cy="3733800"/>
            <a:chOff x="0" y="-38100"/>
            <a:chExt cx="5186228" cy="1035314"/>
          </a:xfrm>
        </p:grpSpPr>
        <p:sp>
          <p:nvSpPr>
            <p:cNvPr id="7" name="Freeform 7"/>
            <p:cNvSpPr/>
            <p:nvPr/>
          </p:nvSpPr>
          <p:spPr>
            <a:xfrm>
              <a:off x="0" y="-38100"/>
              <a:ext cx="5186228" cy="1035314"/>
            </a:xfrm>
            <a:custGeom>
              <a:avLst/>
              <a:gdLst/>
              <a:ahLst/>
              <a:cxnLst/>
              <a:rect l="l" t="t" r="r" b="b"/>
              <a:pathLst>
                <a:path w="5186228" h="997214">
                  <a:moveTo>
                    <a:pt x="0" y="0"/>
                  </a:moveTo>
                  <a:lnTo>
                    <a:pt x="5186228" y="0"/>
                  </a:lnTo>
                  <a:lnTo>
                    <a:pt x="5186228" y="997214"/>
                  </a:lnTo>
                  <a:lnTo>
                    <a:pt x="0" y="9972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186228" cy="1035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>
            <a:off x="-3882315" y="4665083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26ED5C-3F20-AD09-C737-2C7175E87D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81" y="495300"/>
            <a:ext cx="2663613" cy="26665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3900976" y="2568969"/>
            <a:ext cx="4463340" cy="405758"/>
          </a:xfrm>
          <a:custGeom>
            <a:avLst/>
            <a:gdLst/>
            <a:ahLst/>
            <a:cxnLst/>
            <a:rect l="l" t="t" r="r" b="b"/>
            <a:pathLst>
              <a:path w="4463340" h="405758">
                <a:moveTo>
                  <a:pt x="0" y="0"/>
                </a:moveTo>
                <a:lnTo>
                  <a:pt x="4463339" y="0"/>
                </a:lnTo>
                <a:lnTo>
                  <a:pt x="4463339" y="405758"/>
                </a:lnTo>
                <a:lnTo>
                  <a:pt x="0" y="405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900976" y="2882253"/>
            <a:ext cx="4463340" cy="7404748"/>
            <a:chOff x="0" y="0"/>
            <a:chExt cx="1175530" cy="22886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75530" cy="2288683"/>
            </a:xfrm>
            <a:custGeom>
              <a:avLst/>
              <a:gdLst/>
              <a:ahLst/>
              <a:cxnLst/>
              <a:rect l="l" t="t" r="r" b="b"/>
              <a:pathLst>
                <a:path w="1175530" h="2288683">
                  <a:moveTo>
                    <a:pt x="0" y="0"/>
                  </a:moveTo>
                  <a:lnTo>
                    <a:pt x="1175530" y="0"/>
                  </a:lnTo>
                  <a:lnTo>
                    <a:pt x="1175530" y="2288683"/>
                  </a:lnTo>
                  <a:lnTo>
                    <a:pt x="0" y="22886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75530" cy="2326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55546" y="3412877"/>
            <a:ext cx="3116830" cy="6554344"/>
            <a:chOff x="0" y="0"/>
            <a:chExt cx="482878" cy="10154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2878" cy="1015439"/>
            </a:xfrm>
            <a:custGeom>
              <a:avLst/>
              <a:gdLst/>
              <a:ahLst/>
              <a:cxnLst/>
              <a:rect l="l" t="t" r="r" b="b"/>
              <a:pathLst>
                <a:path w="482878" h="1015439">
                  <a:moveTo>
                    <a:pt x="0" y="0"/>
                  </a:moveTo>
                  <a:lnTo>
                    <a:pt x="482878" y="0"/>
                  </a:lnTo>
                  <a:lnTo>
                    <a:pt x="482878" y="1015439"/>
                  </a:lnTo>
                  <a:lnTo>
                    <a:pt x="0" y="1015439"/>
                  </a:lnTo>
                  <a:close/>
                </a:path>
              </a:pathLst>
            </a:custGeom>
            <a:blipFill>
              <a:blip r:embed="rId3"/>
              <a:stretch>
                <a:fillRect l="-9932" r="-9932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 rot="-10800000">
            <a:off x="8592173" y="2568969"/>
            <a:ext cx="4463340" cy="405758"/>
          </a:xfrm>
          <a:custGeom>
            <a:avLst/>
            <a:gdLst/>
            <a:ahLst/>
            <a:cxnLst/>
            <a:rect l="l" t="t" r="r" b="b"/>
            <a:pathLst>
              <a:path w="4463340" h="405758">
                <a:moveTo>
                  <a:pt x="0" y="0"/>
                </a:moveTo>
                <a:lnTo>
                  <a:pt x="4463340" y="0"/>
                </a:lnTo>
                <a:lnTo>
                  <a:pt x="4463340" y="405758"/>
                </a:lnTo>
                <a:lnTo>
                  <a:pt x="0" y="405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8591431" y="2882253"/>
            <a:ext cx="4463340" cy="7404748"/>
            <a:chOff x="0" y="0"/>
            <a:chExt cx="1175530" cy="22886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75530" cy="2288683"/>
            </a:xfrm>
            <a:custGeom>
              <a:avLst/>
              <a:gdLst/>
              <a:ahLst/>
              <a:cxnLst/>
              <a:rect l="l" t="t" r="r" b="b"/>
              <a:pathLst>
                <a:path w="1175530" h="2288683">
                  <a:moveTo>
                    <a:pt x="0" y="0"/>
                  </a:moveTo>
                  <a:lnTo>
                    <a:pt x="1175530" y="0"/>
                  </a:lnTo>
                  <a:lnTo>
                    <a:pt x="1175530" y="2288683"/>
                  </a:lnTo>
                  <a:lnTo>
                    <a:pt x="0" y="22886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75530" cy="2326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13284113" y="2568969"/>
            <a:ext cx="4463340" cy="405758"/>
          </a:xfrm>
          <a:custGeom>
            <a:avLst/>
            <a:gdLst/>
            <a:ahLst/>
            <a:cxnLst/>
            <a:rect l="l" t="t" r="r" b="b"/>
            <a:pathLst>
              <a:path w="4463340" h="405758">
                <a:moveTo>
                  <a:pt x="0" y="0"/>
                </a:moveTo>
                <a:lnTo>
                  <a:pt x="4463340" y="0"/>
                </a:lnTo>
                <a:lnTo>
                  <a:pt x="4463340" y="405758"/>
                </a:lnTo>
                <a:lnTo>
                  <a:pt x="0" y="405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3283370" y="2882253"/>
            <a:ext cx="4463340" cy="7404748"/>
            <a:chOff x="0" y="0"/>
            <a:chExt cx="1175530" cy="228868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75530" cy="2288683"/>
            </a:xfrm>
            <a:custGeom>
              <a:avLst/>
              <a:gdLst/>
              <a:ahLst/>
              <a:cxnLst/>
              <a:rect l="l" t="t" r="r" b="b"/>
              <a:pathLst>
                <a:path w="1175530" h="2288683">
                  <a:moveTo>
                    <a:pt x="0" y="0"/>
                  </a:moveTo>
                  <a:lnTo>
                    <a:pt x="1175530" y="0"/>
                  </a:lnTo>
                  <a:lnTo>
                    <a:pt x="1175530" y="2288683"/>
                  </a:lnTo>
                  <a:lnTo>
                    <a:pt x="0" y="22886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75530" cy="2326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>
            <a:off x="10767060" y="1047750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1018485" y="1104860"/>
            <a:ext cx="583951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87742" lvl="1" indent="-493871" algn="ctr">
              <a:lnSpc>
                <a:spcPts val="4209"/>
              </a:lnSpc>
              <a:spcBef>
                <a:spcPct val="0"/>
              </a:spcBef>
              <a:buAutoNum type="arabicPeriod"/>
            </a:pPr>
            <a:r>
              <a:rPr lang="en-US" sz="4575" u="none" strike="noStrik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35755" y="4572449"/>
            <a:ext cx="2993780" cy="3887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9"/>
              </a:lnSpc>
              <a:spcBef>
                <a:spcPct val="0"/>
              </a:spcBef>
            </a:pPr>
            <a:r>
              <a:rPr lang="en-US" sz="2206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Organizations struggle with efficient information retrieval from large PDF document repositories. Traditional search lacks semantic understanding and context awareness.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35755" y="3454412"/>
            <a:ext cx="2993780" cy="37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7"/>
              </a:lnSpc>
              <a:spcBef>
                <a:spcPct val="0"/>
              </a:spcBef>
            </a:pPr>
            <a:r>
              <a:rPr lang="en-US" sz="2148" b="1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DEFINITION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26210" y="4572449"/>
            <a:ext cx="2993780" cy="3106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9"/>
              </a:lnSpc>
              <a:spcBef>
                <a:spcPct val="0"/>
              </a:spcBef>
            </a:pPr>
            <a:r>
              <a:rPr lang="en-US" sz="2206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Locally-hosted solution ensures data privacy and security. Open-source technologies (Ollama, ChromaDB, FastAPI) reduce costs and provide flexibility.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26210" y="3454412"/>
            <a:ext cx="2993780" cy="37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7"/>
              </a:lnSpc>
              <a:spcBef>
                <a:spcPct val="0"/>
              </a:spcBef>
            </a:pPr>
            <a:r>
              <a:rPr lang="en-US" sz="2148" b="1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FEASIBILITY STUDY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018150" y="4572449"/>
            <a:ext cx="2993780" cy="427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9"/>
              </a:lnSpc>
              <a:spcBef>
                <a:spcPct val="0"/>
              </a:spcBef>
            </a:pPr>
            <a:r>
              <a:rPr lang="en-US" sz="2206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Enables rapid semantic information retrieval from PDF documents. Reduces time spent searching through documentation. Provides accurate, context-aware responses using RAG technology.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018150" y="3454412"/>
            <a:ext cx="2993780" cy="37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7"/>
              </a:lnSpc>
              <a:spcBef>
                <a:spcPct val="0"/>
              </a:spcBef>
            </a:pPr>
            <a:r>
              <a:rPr lang="en-US" sz="2148" b="1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NEED &amp; SIGNIFICANCE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429991" y="4675909"/>
            <a:ext cx="10287000" cy="935182"/>
          </a:xfrm>
          <a:custGeom>
            <a:avLst/>
            <a:gdLst/>
            <a:ahLst/>
            <a:cxnLst/>
            <a:rect l="l" t="t" r="r" b="b"/>
            <a:pathLst>
              <a:path w="10287000" h="935182">
                <a:moveTo>
                  <a:pt x="0" y="0"/>
                </a:moveTo>
                <a:lnTo>
                  <a:pt x="10287000" y="0"/>
                </a:lnTo>
                <a:lnTo>
                  <a:pt x="10287000" y="935182"/>
                </a:lnTo>
                <a:lnTo>
                  <a:pt x="0" y="93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9105900" cy="10287000"/>
            <a:chOff x="0" y="0"/>
            <a:chExt cx="2576410" cy="32554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76410" cy="3255440"/>
            </a:xfrm>
            <a:custGeom>
              <a:avLst/>
              <a:gdLst/>
              <a:ahLst/>
              <a:cxnLst/>
              <a:rect l="l" t="t" r="r" b="b"/>
              <a:pathLst>
                <a:path w="2576410" h="3255440">
                  <a:moveTo>
                    <a:pt x="0" y="0"/>
                  </a:moveTo>
                  <a:lnTo>
                    <a:pt x="2576410" y="0"/>
                  </a:lnTo>
                  <a:lnTo>
                    <a:pt x="2576410" y="3255440"/>
                  </a:lnTo>
                  <a:lnTo>
                    <a:pt x="0" y="3255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576410" cy="3293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895350"/>
            <a:ext cx="7006921" cy="1178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19"/>
              </a:lnSpc>
            </a:pPr>
            <a:r>
              <a:rPr lang="en-US" sz="6870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56708" y="3999435"/>
            <a:ext cx="4722747" cy="290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1"/>
              </a:lnSpc>
              <a:spcBef>
                <a:spcPct val="0"/>
              </a:spcBef>
            </a:pPr>
            <a:r>
              <a:rPr lang="en-US" sz="210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Create intuitive web interface with modern glassmorphism design principles</a:t>
            </a:r>
          </a:p>
          <a:p>
            <a:pPr marL="0" lvl="0" indent="0" algn="ctr">
              <a:lnSpc>
                <a:spcPts val="2941"/>
              </a:lnSpc>
              <a:spcBef>
                <a:spcPct val="0"/>
              </a:spcBef>
            </a:pPr>
            <a:r>
              <a:rPr lang="en-US" sz="210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Ensure easy deployment and maintenance with one-click startup capability</a:t>
            </a:r>
          </a:p>
          <a:p>
            <a:pPr marL="0" lvl="0" indent="0" algn="ctr">
              <a:lnSpc>
                <a:spcPts val="2941"/>
              </a:lnSpc>
              <a:spcBef>
                <a:spcPct val="0"/>
              </a:spcBef>
            </a:pPr>
            <a:r>
              <a:rPr lang="en-US" sz="210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Enable cross-platform accessibility through web technologies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576561" y="3249434"/>
            <a:ext cx="3283039" cy="359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30"/>
              </a:lnSpc>
              <a:spcBef>
                <a:spcPct val="0"/>
              </a:spcBef>
            </a:pPr>
            <a:r>
              <a:rPr lang="en-US" sz="216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DESIGN &amp; DEPLOYMENT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75083" y="4296929"/>
            <a:ext cx="3955526" cy="3640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1"/>
              </a:lnSpc>
              <a:spcBef>
                <a:spcPct val="0"/>
              </a:spcBef>
            </a:pPr>
            <a:r>
              <a:rPr lang="en-US" sz="210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• Develop locally-hosted AI chatbot for semantic knowledge retrieval from PDF repositories</a:t>
            </a:r>
          </a:p>
          <a:p>
            <a:pPr marL="0" lvl="0" indent="0" algn="ctr">
              <a:lnSpc>
                <a:spcPts val="2941"/>
              </a:lnSpc>
              <a:spcBef>
                <a:spcPct val="0"/>
              </a:spcBef>
            </a:pPr>
            <a:r>
              <a:rPr lang="en-US" sz="210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• Implement RAG (Retrieval Augmented Generation) architecture for accurate document-based Q&amp;A</a:t>
            </a:r>
          </a:p>
          <a:p>
            <a:pPr marL="0" lvl="0" indent="0" algn="ctr">
              <a:lnSpc>
                <a:spcPts val="2941"/>
              </a:lnSpc>
              <a:spcBef>
                <a:spcPct val="0"/>
              </a:spcBef>
            </a:pPr>
            <a:r>
              <a:rPr lang="en-US" sz="2101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• Support general knowledge queries as fallback mechanism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11326" y="3249434"/>
            <a:ext cx="3283039" cy="359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30"/>
              </a:lnSpc>
              <a:spcBef>
                <a:spcPct val="0"/>
              </a:spcBef>
            </a:pPr>
            <a:r>
              <a:rPr lang="en-US" sz="2164" b="1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PRIMARY GOALS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767060" y="1047750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742511"/>
            <a:ext cx="18288000" cy="1662545"/>
          </a:xfrm>
          <a:custGeom>
            <a:avLst/>
            <a:gdLst/>
            <a:ahLst/>
            <a:cxnLst/>
            <a:rect l="l" t="t" r="r" b="b"/>
            <a:pathLst>
              <a:path w="18288000" h="1662545">
                <a:moveTo>
                  <a:pt x="0" y="0"/>
                </a:moveTo>
                <a:lnTo>
                  <a:pt x="18288000" y="0"/>
                </a:lnTo>
                <a:lnTo>
                  <a:pt x="18288000" y="1662545"/>
                </a:lnTo>
                <a:lnTo>
                  <a:pt x="0" y="1662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14300"/>
            <a:ext cx="18288000" cy="2628212"/>
            <a:chOff x="0" y="0"/>
            <a:chExt cx="5186228" cy="9972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6228" cy="997214"/>
            </a:xfrm>
            <a:custGeom>
              <a:avLst/>
              <a:gdLst/>
              <a:ahLst/>
              <a:cxnLst/>
              <a:rect l="l" t="t" r="r" b="b"/>
              <a:pathLst>
                <a:path w="5186228" h="997214">
                  <a:moveTo>
                    <a:pt x="0" y="0"/>
                  </a:moveTo>
                  <a:lnTo>
                    <a:pt x="5186228" y="0"/>
                  </a:lnTo>
                  <a:lnTo>
                    <a:pt x="5186228" y="997214"/>
                  </a:lnTo>
                  <a:lnTo>
                    <a:pt x="0" y="9972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186228" cy="1035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4186737"/>
            <a:ext cx="9398769" cy="4853244"/>
            <a:chOff x="0" y="0"/>
            <a:chExt cx="1456115" cy="7518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56115" cy="751895"/>
            </a:xfrm>
            <a:custGeom>
              <a:avLst/>
              <a:gdLst/>
              <a:ahLst/>
              <a:cxnLst/>
              <a:rect l="l" t="t" r="r" b="b"/>
              <a:pathLst>
                <a:path w="1456115" h="751895">
                  <a:moveTo>
                    <a:pt x="0" y="0"/>
                  </a:moveTo>
                  <a:lnTo>
                    <a:pt x="1456115" y="0"/>
                  </a:lnTo>
                  <a:lnTo>
                    <a:pt x="1456115" y="751895"/>
                  </a:lnTo>
                  <a:lnTo>
                    <a:pt x="0" y="751895"/>
                  </a:lnTo>
                  <a:close/>
                </a:path>
              </a:pathLst>
            </a:custGeom>
            <a:blipFill>
              <a:blip r:embed="rId3"/>
              <a:stretch>
                <a:fillRect t="-5192" b="-5192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>
            <a:off x="10767060" y="1531875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0202581" y="4519129"/>
            <a:ext cx="6430416" cy="4691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98"/>
              </a:lnSpc>
              <a:spcBef>
                <a:spcPct val="0"/>
              </a:spcBef>
            </a:pPr>
            <a:r>
              <a:rPr lang="en-US" sz="2427" b="1" i="1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• RAG (Retrieval Augmented Generation) architecture combines retrieval and generation for accurate responses</a:t>
            </a:r>
          </a:p>
          <a:p>
            <a:pPr marL="0" lvl="0" indent="0" algn="l">
              <a:lnSpc>
                <a:spcPts val="3398"/>
              </a:lnSpc>
              <a:spcBef>
                <a:spcPct val="0"/>
              </a:spcBef>
            </a:pPr>
            <a:r>
              <a:rPr lang="en-US" sz="2427" b="1" i="1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• Vector embeddings enable semantic similarity search beyond keyword matching</a:t>
            </a:r>
          </a:p>
          <a:p>
            <a:pPr marL="0" lvl="0" indent="0" algn="l">
              <a:lnSpc>
                <a:spcPts val="3398"/>
              </a:lnSpc>
              <a:spcBef>
                <a:spcPct val="0"/>
              </a:spcBef>
            </a:pPr>
            <a:r>
              <a:rPr lang="en-US" sz="2427" b="1" i="1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• ChromaDB provides efficient vector storage and retrieval mechanisms</a:t>
            </a:r>
          </a:p>
          <a:p>
            <a:pPr marL="0" lvl="0" indent="0" algn="l">
              <a:lnSpc>
                <a:spcPts val="3398"/>
              </a:lnSpc>
              <a:spcBef>
                <a:spcPct val="0"/>
              </a:spcBef>
            </a:pPr>
            <a:r>
              <a:rPr lang="en-US" sz="2427" b="1" i="1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• Llama 3.2 model offers strong language understanding and generation capabilities</a:t>
            </a:r>
          </a:p>
          <a:p>
            <a:pPr marL="0" lvl="0" indent="0" algn="l">
              <a:lnSpc>
                <a:spcPts val="3398"/>
              </a:lnSpc>
              <a:spcBef>
                <a:spcPct val="0"/>
              </a:spcBef>
            </a:pPr>
            <a:r>
              <a:rPr lang="en-US" sz="2427" b="1" i="1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• FastAPI framework enables high-performance, modern API development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14360"/>
            <a:ext cx="7529484" cy="1763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1344" lvl="1" algn="l">
              <a:lnSpc>
                <a:spcPts val="7150"/>
              </a:lnSpc>
            </a:pPr>
            <a:r>
              <a:rPr lang="en-US" sz="5107" dirty="0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 LITERATURE SURVEY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429991" y="4675909"/>
            <a:ext cx="10287000" cy="935182"/>
          </a:xfrm>
          <a:custGeom>
            <a:avLst/>
            <a:gdLst/>
            <a:ahLst/>
            <a:cxnLst/>
            <a:rect l="l" t="t" r="r" b="b"/>
            <a:pathLst>
              <a:path w="10287000" h="935182">
                <a:moveTo>
                  <a:pt x="0" y="0"/>
                </a:moveTo>
                <a:lnTo>
                  <a:pt x="10287000" y="0"/>
                </a:lnTo>
                <a:lnTo>
                  <a:pt x="10287000" y="935182"/>
                </a:lnTo>
                <a:lnTo>
                  <a:pt x="0" y="93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9105900" cy="10287000"/>
            <a:chOff x="0" y="0"/>
            <a:chExt cx="2576410" cy="32554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76410" cy="3255440"/>
            </a:xfrm>
            <a:custGeom>
              <a:avLst/>
              <a:gdLst/>
              <a:ahLst/>
              <a:cxnLst/>
              <a:rect l="l" t="t" r="r" b="b"/>
              <a:pathLst>
                <a:path w="2576410" h="3255440">
                  <a:moveTo>
                    <a:pt x="0" y="0"/>
                  </a:moveTo>
                  <a:lnTo>
                    <a:pt x="2576410" y="0"/>
                  </a:lnTo>
                  <a:lnTo>
                    <a:pt x="2576410" y="3255440"/>
                  </a:lnTo>
                  <a:lnTo>
                    <a:pt x="0" y="3255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576410" cy="3293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971550"/>
            <a:ext cx="7006921" cy="1274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9823" lvl="1" algn="l">
              <a:lnSpc>
                <a:spcPts val="5185"/>
              </a:lnSpc>
            </a:pPr>
            <a:r>
              <a:rPr lang="en-US" sz="3703" dirty="0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3. PROPOSED METHODOLOGY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56708" y="4008960"/>
            <a:ext cx="4722747" cy="349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61"/>
              </a:lnSpc>
              <a:spcBef>
                <a:spcPct val="0"/>
              </a:spcBef>
            </a:pPr>
            <a:r>
              <a:rPr lang="en-US" sz="168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Performance: Fast response times for queries (under 3 seconds)</a:t>
            </a:r>
          </a:p>
          <a:p>
            <a:pPr marL="0" lvl="0" indent="0" algn="ctr">
              <a:lnSpc>
                <a:spcPts val="2361"/>
              </a:lnSpc>
              <a:spcBef>
                <a:spcPct val="0"/>
              </a:spcBef>
            </a:pPr>
            <a:r>
              <a:rPr lang="en-US" sz="168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Scalability: Handle multiple concurrent users efficiently</a:t>
            </a:r>
          </a:p>
          <a:p>
            <a:pPr marL="0" lvl="0" indent="0" algn="ctr">
              <a:lnSpc>
                <a:spcPts val="2361"/>
              </a:lnSpc>
              <a:spcBef>
                <a:spcPct val="0"/>
              </a:spcBef>
            </a:pPr>
            <a:r>
              <a:rPr lang="en-US" sz="168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Security: Local hosting ensures complete data privacy</a:t>
            </a:r>
          </a:p>
          <a:p>
            <a:pPr marL="0" lvl="0" indent="0" algn="ctr">
              <a:lnSpc>
                <a:spcPts val="2361"/>
              </a:lnSpc>
              <a:spcBef>
                <a:spcPct val="0"/>
              </a:spcBef>
            </a:pPr>
            <a:r>
              <a:rPr lang="en-US" sz="168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Usability: Intuitive UI with modern design principles</a:t>
            </a:r>
          </a:p>
          <a:p>
            <a:pPr marL="0" lvl="0" indent="0" algn="ctr">
              <a:lnSpc>
                <a:spcPts val="2361"/>
              </a:lnSpc>
              <a:spcBef>
                <a:spcPct val="0"/>
              </a:spcBef>
            </a:pPr>
            <a:r>
              <a:rPr lang="en-US" sz="168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Reliability: Automatic fallback to general mode when needed</a:t>
            </a:r>
          </a:p>
          <a:p>
            <a:pPr marL="0" lvl="0" indent="0" algn="ctr">
              <a:lnSpc>
                <a:spcPts val="2361"/>
              </a:lnSpc>
              <a:spcBef>
                <a:spcPct val="0"/>
              </a:spcBef>
            </a:pPr>
            <a:r>
              <a:rPr lang="en-US" sz="168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Maintainability: Clean code structure with modular architecture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576561" y="3258959"/>
            <a:ext cx="3283039" cy="242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49"/>
              </a:lnSpc>
              <a:spcBef>
                <a:spcPct val="0"/>
              </a:spcBef>
            </a:pPr>
            <a:r>
              <a:rPr lang="en-US" sz="1463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NON-FUNCTIONAL REQUIREMENTS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75083" y="4306454"/>
            <a:ext cx="3955526" cy="349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61"/>
              </a:lnSpc>
              <a:spcBef>
                <a:spcPct val="0"/>
              </a:spcBef>
            </a:pPr>
            <a:r>
              <a:rPr lang="en-US" sz="1686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• Accept PDF document uploads from users</a:t>
            </a:r>
          </a:p>
          <a:p>
            <a:pPr marL="0" lvl="0" indent="0" algn="ctr">
              <a:lnSpc>
                <a:spcPts val="2361"/>
              </a:lnSpc>
              <a:spcBef>
                <a:spcPct val="0"/>
              </a:spcBef>
            </a:pPr>
            <a:r>
              <a:rPr lang="en-US" sz="1686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• Extract and process text from PDF files using pypdf</a:t>
            </a:r>
          </a:p>
          <a:p>
            <a:pPr marL="0" lvl="0" indent="0" algn="ctr">
              <a:lnSpc>
                <a:spcPts val="2361"/>
              </a:lnSpc>
              <a:spcBef>
                <a:spcPct val="0"/>
              </a:spcBef>
            </a:pPr>
            <a:r>
              <a:rPr lang="en-US" sz="1686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• Generate embeddings and store in ChromaDB vector database</a:t>
            </a:r>
          </a:p>
          <a:p>
            <a:pPr marL="0" lvl="0" indent="0" algn="ctr">
              <a:lnSpc>
                <a:spcPts val="2361"/>
              </a:lnSpc>
              <a:spcBef>
                <a:spcPct val="0"/>
              </a:spcBef>
            </a:pPr>
            <a:r>
              <a:rPr lang="en-US" sz="1686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• Search relevant document chunks based on user queries</a:t>
            </a:r>
          </a:p>
          <a:p>
            <a:pPr marL="0" lvl="0" indent="0" algn="ctr">
              <a:lnSpc>
                <a:spcPts val="2361"/>
              </a:lnSpc>
              <a:spcBef>
                <a:spcPct val="0"/>
              </a:spcBef>
            </a:pPr>
            <a:r>
              <a:rPr lang="en-US" sz="1686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• Generate contextual answers using RAG mode with Llama 3.2</a:t>
            </a:r>
          </a:p>
          <a:p>
            <a:pPr marL="0" lvl="0" indent="0" algn="ctr">
              <a:lnSpc>
                <a:spcPts val="2361"/>
              </a:lnSpc>
              <a:spcBef>
                <a:spcPct val="0"/>
              </a:spcBef>
            </a:pPr>
            <a:r>
              <a:rPr lang="en-US" sz="1686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• Provide general knowledge responses when no relevant documents found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11326" y="3258959"/>
            <a:ext cx="3283039" cy="242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49"/>
              </a:lnSpc>
              <a:spcBef>
                <a:spcPct val="0"/>
              </a:spcBef>
            </a:pPr>
            <a:r>
              <a:rPr lang="en-US" sz="1463" b="1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FUNCTIONAL REQUIREMENTS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767060" y="1047750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915400" cy="10287000"/>
            <a:chOff x="0" y="0"/>
            <a:chExt cx="2576410" cy="32554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76410" cy="3255440"/>
            </a:xfrm>
            <a:custGeom>
              <a:avLst/>
              <a:gdLst/>
              <a:ahLst/>
              <a:cxnLst/>
              <a:rect l="l" t="t" r="r" b="b"/>
              <a:pathLst>
                <a:path w="2576410" h="3255440">
                  <a:moveTo>
                    <a:pt x="0" y="0"/>
                  </a:moveTo>
                  <a:lnTo>
                    <a:pt x="2576410" y="0"/>
                  </a:lnTo>
                  <a:lnTo>
                    <a:pt x="2576410" y="3255440"/>
                  </a:lnTo>
                  <a:lnTo>
                    <a:pt x="0" y="3255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76410" cy="3293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971550"/>
            <a:ext cx="7006921" cy="620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5"/>
              </a:lnSpc>
            </a:pPr>
            <a:r>
              <a:rPr lang="en-US" sz="3703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PROPOSED METHODOLOGY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56708" y="3989910"/>
            <a:ext cx="4722747" cy="4881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Python 3.8+ with virtual environment (.venv)</a:t>
            </a:r>
          </a:p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FastAPI framework for backend API server</a:t>
            </a:r>
          </a:p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Ollama with Llama 3.2 model for AI processing</a:t>
            </a:r>
          </a:p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ChromaDB vector database for embeddings storage</a:t>
            </a:r>
          </a:p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pypdf library for PDF text extraction</a:t>
            </a:r>
          </a:p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HTML5, CSS3, JavaScript (ES6) for frontend</a:t>
            </a:r>
          </a:p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Modern web browser (Chrome, Firefox, Edge)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76561" y="3249434"/>
            <a:ext cx="3283039" cy="31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29"/>
              </a:lnSpc>
              <a:spcBef>
                <a:spcPct val="0"/>
              </a:spcBef>
            </a:pPr>
            <a:r>
              <a:rPr lang="en-US" sz="1878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SOFTWARE REQUIREMENTS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75083" y="4287404"/>
            <a:ext cx="3955526" cy="3377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• Minimum 8GB RAM (16GB recommended for optimal performance)</a:t>
            </a:r>
          </a:p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• Multi-core processor (4+ cores recommended)</a:t>
            </a:r>
          </a:p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• 10GB+ free disk space for models and database storage</a:t>
            </a:r>
          </a:p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• Internet connection for initial setup and model downloads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11326" y="3249434"/>
            <a:ext cx="3283039" cy="31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29"/>
              </a:lnSpc>
              <a:spcBef>
                <a:spcPct val="0"/>
              </a:spcBef>
            </a:pPr>
            <a:r>
              <a:rPr lang="en-US" sz="1878" b="1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HARDWARE REQUIREMENTS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767060" y="1047750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21828" y="2973454"/>
            <a:ext cx="2203123" cy="1296825"/>
            <a:chOff x="0" y="0"/>
            <a:chExt cx="580246" cy="3415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246" cy="341551"/>
            </a:xfrm>
            <a:custGeom>
              <a:avLst/>
              <a:gdLst/>
              <a:ahLst/>
              <a:cxnLst/>
              <a:rect l="l" t="t" r="r" b="b"/>
              <a:pathLst>
                <a:path w="580246" h="341551">
                  <a:moveTo>
                    <a:pt x="0" y="0"/>
                  </a:moveTo>
                  <a:lnTo>
                    <a:pt x="580246" y="0"/>
                  </a:lnTo>
                  <a:lnTo>
                    <a:pt x="580246" y="341551"/>
                  </a:lnTo>
                  <a:lnTo>
                    <a:pt x="0" y="3415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80246" cy="379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-200344" y="4271224"/>
            <a:ext cx="19190074" cy="1744552"/>
          </a:xfrm>
          <a:custGeom>
            <a:avLst/>
            <a:gdLst/>
            <a:ahLst/>
            <a:cxnLst/>
            <a:rect l="l" t="t" r="r" b="b"/>
            <a:pathLst>
              <a:path w="19190074" h="1744552">
                <a:moveTo>
                  <a:pt x="0" y="0"/>
                </a:moveTo>
                <a:lnTo>
                  <a:pt x="19190073" y="0"/>
                </a:lnTo>
                <a:lnTo>
                  <a:pt x="19190073" y="1744552"/>
                </a:lnTo>
                <a:lnTo>
                  <a:pt x="0" y="1744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5865229"/>
            <a:ext cx="18288000" cy="4153528"/>
            <a:chOff x="0" y="0"/>
            <a:chExt cx="5186228" cy="11489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6228" cy="1148971"/>
            </a:xfrm>
            <a:custGeom>
              <a:avLst/>
              <a:gdLst/>
              <a:ahLst/>
              <a:cxnLst/>
              <a:rect l="l" t="t" r="r" b="b"/>
              <a:pathLst>
                <a:path w="5186228" h="1148971">
                  <a:moveTo>
                    <a:pt x="0" y="0"/>
                  </a:moveTo>
                  <a:lnTo>
                    <a:pt x="5186228" y="0"/>
                  </a:lnTo>
                  <a:lnTo>
                    <a:pt x="5186228" y="1148971"/>
                  </a:lnTo>
                  <a:lnTo>
                    <a:pt x="0" y="114897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186228" cy="11870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071830" y="5165354"/>
            <a:ext cx="1030292" cy="1177476"/>
            <a:chOff x="0" y="0"/>
            <a:chExt cx="7112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11200" cy="812800"/>
            </a:xfrm>
            <a:custGeom>
              <a:avLst/>
              <a:gdLst/>
              <a:ahLst/>
              <a:cxnLst/>
              <a:rect l="l" t="t" r="r" b="b"/>
              <a:pathLst>
                <a:path w="711200" h="812800">
                  <a:moveTo>
                    <a:pt x="355600" y="0"/>
                  </a:moveTo>
                  <a:lnTo>
                    <a:pt x="499725" y="159329"/>
                  </a:lnTo>
                  <a:lnTo>
                    <a:pt x="711200" y="203200"/>
                  </a:lnTo>
                  <a:lnTo>
                    <a:pt x="643849" y="406400"/>
                  </a:lnTo>
                  <a:lnTo>
                    <a:pt x="711200" y="609600"/>
                  </a:lnTo>
                  <a:lnTo>
                    <a:pt x="499725" y="653471"/>
                  </a:lnTo>
                  <a:lnTo>
                    <a:pt x="355600" y="812800"/>
                  </a:lnTo>
                  <a:lnTo>
                    <a:pt x="211475" y="653471"/>
                  </a:lnTo>
                  <a:lnTo>
                    <a:pt x="0" y="609600"/>
                  </a:lnTo>
                  <a:lnTo>
                    <a:pt x="67351" y="406400"/>
                  </a:lnTo>
                  <a:lnTo>
                    <a:pt x="0" y="203200"/>
                  </a:lnTo>
                  <a:lnTo>
                    <a:pt x="211475" y="159329"/>
                  </a:lnTo>
                  <a:lnTo>
                    <a:pt x="355600" y="0"/>
                  </a:lnTo>
                  <a:close/>
                </a:path>
              </a:pathLst>
            </a:custGeom>
            <a:solidFill>
              <a:srgbClr val="CBE36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88900" y="127000"/>
              <a:ext cx="533400" cy="52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152485"/>
            <a:ext cx="9423213" cy="1286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59872" lvl="1" indent="-579936" algn="l">
              <a:lnSpc>
                <a:spcPts val="4942"/>
              </a:lnSpc>
              <a:spcBef>
                <a:spcPct val="0"/>
              </a:spcBef>
              <a:buAutoNum type="arabicPeriod"/>
            </a:pPr>
            <a:r>
              <a:rPr lang="en-US" sz="5372" u="none" strike="noStrik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IMPLEMENTATION TIMELINE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708243" y="5165354"/>
            <a:ext cx="1030292" cy="1177476"/>
            <a:chOff x="0" y="0"/>
            <a:chExt cx="7112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1200" cy="812800"/>
            </a:xfrm>
            <a:custGeom>
              <a:avLst/>
              <a:gdLst/>
              <a:ahLst/>
              <a:cxnLst/>
              <a:rect l="l" t="t" r="r" b="b"/>
              <a:pathLst>
                <a:path w="711200" h="812800">
                  <a:moveTo>
                    <a:pt x="355600" y="0"/>
                  </a:moveTo>
                  <a:lnTo>
                    <a:pt x="499725" y="159329"/>
                  </a:lnTo>
                  <a:lnTo>
                    <a:pt x="711200" y="203200"/>
                  </a:lnTo>
                  <a:lnTo>
                    <a:pt x="643849" y="406400"/>
                  </a:lnTo>
                  <a:lnTo>
                    <a:pt x="711200" y="609600"/>
                  </a:lnTo>
                  <a:lnTo>
                    <a:pt x="499725" y="653471"/>
                  </a:lnTo>
                  <a:lnTo>
                    <a:pt x="355600" y="812800"/>
                  </a:lnTo>
                  <a:lnTo>
                    <a:pt x="211475" y="653471"/>
                  </a:lnTo>
                  <a:lnTo>
                    <a:pt x="0" y="609600"/>
                  </a:lnTo>
                  <a:lnTo>
                    <a:pt x="67351" y="406400"/>
                  </a:lnTo>
                  <a:lnTo>
                    <a:pt x="0" y="203200"/>
                  </a:lnTo>
                  <a:lnTo>
                    <a:pt x="211475" y="159329"/>
                  </a:lnTo>
                  <a:lnTo>
                    <a:pt x="355600" y="0"/>
                  </a:lnTo>
                  <a:close/>
                </a:path>
              </a:pathLst>
            </a:custGeom>
            <a:solidFill>
              <a:srgbClr val="CBE368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88900" y="127000"/>
              <a:ext cx="533400" cy="52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06002" y="6993755"/>
            <a:ext cx="2203123" cy="1296825"/>
            <a:chOff x="0" y="0"/>
            <a:chExt cx="580246" cy="34155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80246" cy="341551"/>
            </a:xfrm>
            <a:custGeom>
              <a:avLst/>
              <a:gdLst/>
              <a:ahLst/>
              <a:cxnLst/>
              <a:rect l="l" t="t" r="r" b="b"/>
              <a:pathLst>
                <a:path w="580246" h="341551">
                  <a:moveTo>
                    <a:pt x="0" y="0"/>
                  </a:moveTo>
                  <a:lnTo>
                    <a:pt x="580246" y="0"/>
                  </a:lnTo>
                  <a:lnTo>
                    <a:pt x="580246" y="341551"/>
                  </a:lnTo>
                  <a:lnTo>
                    <a:pt x="0" y="341551"/>
                  </a:lnTo>
                  <a:close/>
                </a:path>
              </a:pathLst>
            </a:custGeom>
            <a:solidFill>
              <a:srgbClr val="225A8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80246" cy="379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009200" y="7244806"/>
            <a:ext cx="1196727" cy="62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DOCUMENT UPLOAD &amp; PDF EXTRACTION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16810" y="3102382"/>
            <a:ext cx="1613158" cy="62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FASTAPI BACKEND SETUP &amp; CONFIGURATION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350352" y="3021936"/>
            <a:ext cx="2203123" cy="1296825"/>
            <a:chOff x="0" y="0"/>
            <a:chExt cx="580246" cy="34155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80246" cy="341551"/>
            </a:xfrm>
            <a:custGeom>
              <a:avLst/>
              <a:gdLst/>
              <a:ahLst/>
              <a:cxnLst/>
              <a:rect l="l" t="t" r="r" b="b"/>
              <a:pathLst>
                <a:path w="580246" h="341551">
                  <a:moveTo>
                    <a:pt x="0" y="0"/>
                  </a:moveTo>
                  <a:lnTo>
                    <a:pt x="580246" y="0"/>
                  </a:lnTo>
                  <a:lnTo>
                    <a:pt x="580246" y="341551"/>
                  </a:lnTo>
                  <a:lnTo>
                    <a:pt x="0" y="3415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580246" cy="379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300354" y="5213836"/>
            <a:ext cx="1030292" cy="1177476"/>
            <a:chOff x="0" y="0"/>
            <a:chExt cx="7112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11200" cy="812800"/>
            </a:xfrm>
            <a:custGeom>
              <a:avLst/>
              <a:gdLst/>
              <a:ahLst/>
              <a:cxnLst/>
              <a:rect l="l" t="t" r="r" b="b"/>
              <a:pathLst>
                <a:path w="711200" h="812800">
                  <a:moveTo>
                    <a:pt x="355600" y="0"/>
                  </a:moveTo>
                  <a:lnTo>
                    <a:pt x="499725" y="159329"/>
                  </a:lnTo>
                  <a:lnTo>
                    <a:pt x="711200" y="203200"/>
                  </a:lnTo>
                  <a:lnTo>
                    <a:pt x="643849" y="406400"/>
                  </a:lnTo>
                  <a:lnTo>
                    <a:pt x="711200" y="609600"/>
                  </a:lnTo>
                  <a:lnTo>
                    <a:pt x="499725" y="653471"/>
                  </a:lnTo>
                  <a:lnTo>
                    <a:pt x="355600" y="812800"/>
                  </a:lnTo>
                  <a:lnTo>
                    <a:pt x="211475" y="653471"/>
                  </a:lnTo>
                  <a:lnTo>
                    <a:pt x="0" y="609600"/>
                  </a:lnTo>
                  <a:lnTo>
                    <a:pt x="67351" y="406400"/>
                  </a:lnTo>
                  <a:lnTo>
                    <a:pt x="0" y="203200"/>
                  </a:lnTo>
                  <a:lnTo>
                    <a:pt x="211475" y="159329"/>
                  </a:lnTo>
                  <a:lnTo>
                    <a:pt x="355600" y="0"/>
                  </a:lnTo>
                  <a:close/>
                </a:path>
              </a:pathLst>
            </a:custGeom>
            <a:solidFill>
              <a:srgbClr val="CBE368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88900" y="127000"/>
              <a:ext cx="533400" cy="52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936767" y="5213836"/>
            <a:ext cx="1030292" cy="1177476"/>
            <a:chOff x="0" y="0"/>
            <a:chExt cx="7112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11200" cy="812800"/>
            </a:xfrm>
            <a:custGeom>
              <a:avLst/>
              <a:gdLst/>
              <a:ahLst/>
              <a:cxnLst/>
              <a:rect l="l" t="t" r="r" b="b"/>
              <a:pathLst>
                <a:path w="711200" h="812800">
                  <a:moveTo>
                    <a:pt x="355600" y="0"/>
                  </a:moveTo>
                  <a:lnTo>
                    <a:pt x="499725" y="159329"/>
                  </a:lnTo>
                  <a:lnTo>
                    <a:pt x="711200" y="203200"/>
                  </a:lnTo>
                  <a:lnTo>
                    <a:pt x="643849" y="406400"/>
                  </a:lnTo>
                  <a:lnTo>
                    <a:pt x="711200" y="609600"/>
                  </a:lnTo>
                  <a:lnTo>
                    <a:pt x="499725" y="653471"/>
                  </a:lnTo>
                  <a:lnTo>
                    <a:pt x="355600" y="812800"/>
                  </a:lnTo>
                  <a:lnTo>
                    <a:pt x="211475" y="653471"/>
                  </a:lnTo>
                  <a:lnTo>
                    <a:pt x="0" y="609600"/>
                  </a:lnTo>
                  <a:lnTo>
                    <a:pt x="67351" y="406400"/>
                  </a:lnTo>
                  <a:lnTo>
                    <a:pt x="0" y="203200"/>
                  </a:lnTo>
                  <a:lnTo>
                    <a:pt x="211475" y="159329"/>
                  </a:lnTo>
                  <a:lnTo>
                    <a:pt x="355600" y="0"/>
                  </a:lnTo>
                  <a:close/>
                </a:path>
              </a:pathLst>
            </a:custGeom>
            <a:solidFill>
              <a:srgbClr val="CBE368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88900" y="127000"/>
              <a:ext cx="533400" cy="52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34526" y="7042237"/>
            <a:ext cx="2203123" cy="1296825"/>
            <a:chOff x="0" y="0"/>
            <a:chExt cx="580246" cy="34155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80246" cy="341551"/>
            </a:xfrm>
            <a:custGeom>
              <a:avLst/>
              <a:gdLst/>
              <a:ahLst/>
              <a:cxnLst/>
              <a:rect l="l" t="t" r="r" b="b"/>
              <a:pathLst>
                <a:path w="580246" h="341551">
                  <a:moveTo>
                    <a:pt x="0" y="0"/>
                  </a:moveTo>
                  <a:lnTo>
                    <a:pt x="580246" y="0"/>
                  </a:lnTo>
                  <a:lnTo>
                    <a:pt x="580246" y="341551"/>
                  </a:lnTo>
                  <a:lnTo>
                    <a:pt x="0" y="341551"/>
                  </a:lnTo>
                  <a:close/>
                </a:path>
              </a:pathLst>
            </a:custGeom>
            <a:solidFill>
              <a:srgbClr val="225A8D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580246" cy="379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190751" y="7425792"/>
            <a:ext cx="1290672" cy="62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CHUNK EMBEDDING GENERATION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936767" y="3405491"/>
            <a:ext cx="1071466" cy="62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CHROMADB VECTOR STORAGE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4578876" y="3021936"/>
            <a:ext cx="2203123" cy="1296825"/>
            <a:chOff x="0" y="0"/>
            <a:chExt cx="580246" cy="34155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80246" cy="341551"/>
            </a:xfrm>
            <a:custGeom>
              <a:avLst/>
              <a:gdLst/>
              <a:ahLst/>
              <a:cxnLst/>
              <a:rect l="l" t="t" r="r" b="b"/>
              <a:pathLst>
                <a:path w="580246" h="341551">
                  <a:moveTo>
                    <a:pt x="0" y="0"/>
                  </a:moveTo>
                  <a:lnTo>
                    <a:pt x="580246" y="0"/>
                  </a:lnTo>
                  <a:lnTo>
                    <a:pt x="580246" y="341551"/>
                  </a:lnTo>
                  <a:lnTo>
                    <a:pt x="0" y="3415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580246" cy="379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528878" y="5213836"/>
            <a:ext cx="1030292" cy="1177476"/>
            <a:chOff x="0" y="0"/>
            <a:chExt cx="7112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11200" cy="812800"/>
            </a:xfrm>
            <a:custGeom>
              <a:avLst/>
              <a:gdLst/>
              <a:ahLst/>
              <a:cxnLst/>
              <a:rect l="l" t="t" r="r" b="b"/>
              <a:pathLst>
                <a:path w="711200" h="812800">
                  <a:moveTo>
                    <a:pt x="355600" y="0"/>
                  </a:moveTo>
                  <a:lnTo>
                    <a:pt x="499725" y="159329"/>
                  </a:lnTo>
                  <a:lnTo>
                    <a:pt x="711200" y="203200"/>
                  </a:lnTo>
                  <a:lnTo>
                    <a:pt x="643849" y="406400"/>
                  </a:lnTo>
                  <a:lnTo>
                    <a:pt x="711200" y="609600"/>
                  </a:lnTo>
                  <a:lnTo>
                    <a:pt x="499725" y="653471"/>
                  </a:lnTo>
                  <a:lnTo>
                    <a:pt x="355600" y="812800"/>
                  </a:lnTo>
                  <a:lnTo>
                    <a:pt x="211475" y="653471"/>
                  </a:lnTo>
                  <a:lnTo>
                    <a:pt x="0" y="609600"/>
                  </a:lnTo>
                  <a:lnTo>
                    <a:pt x="67351" y="406400"/>
                  </a:lnTo>
                  <a:lnTo>
                    <a:pt x="0" y="203200"/>
                  </a:lnTo>
                  <a:lnTo>
                    <a:pt x="211475" y="159329"/>
                  </a:lnTo>
                  <a:lnTo>
                    <a:pt x="355600" y="0"/>
                  </a:lnTo>
                  <a:close/>
                </a:path>
              </a:pathLst>
            </a:custGeom>
            <a:solidFill>
              <a:srgbClr val="CBE368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88900" y="127000"/>
              <a:ext cx="533400" cy="52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5165291" y="5213836"/>
            <a:ext cx="1030292" cy="1177476"/>
            <a:chOff x="0" y="0"/>
            <a:chExt cx="7112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11200" cy="812800"/>
            </a:xfrm>
            <a:custGeom>
              <a:avLst/>
              <a:gdLst/>
              <a:ahLst/>
              <a:cxnLst/>
              <a:rect l="l" t="t" r="r" b="b"/>
              <a:pathLst>
                <a:path w="711200" h="812800">
                  <a:moveTo>
                    <a:pt x="355600" y="0"/>
                  </a:moveTo>
                  <a:lnTo>
                    <a:pt x="499725" y="159329"/>
                  </a:lnTo>
                  <a:lnTo>
                    <a:pt x="711200" y="203200"/>
                  </a:lnTo>
                  <a:lnTo>
                    <a:pt x="643849" y="406400"/>
                  </a:lnTo>
                  <a:lnTo>
                    <a:pt x="711200" y="609600"/>
                  </a:lnTo>
                  <a:lnTo>
                    <a:pt x="499725" y="653471"/>
                  </a:lnTo>
                  <a:lnTo>
                    <a:pt x="355600" y="812800"/>
                  </a:lnTo>
                  <a:lnTo>
                    <a:pt x="211475" y="653471"/>
                  </a:lnTo>
                  <a:lnTo>
                    <a:pt x="0" y="609600"/>
                  </a:lnTo>
                  <a:lnTo>
                    <a:pt x="67351" y="406400"/>
                  </a:lnTo>
                  <a:lnTo>
                    <a:pt x="0" y="203200"/>
                  </a:lnTo>
                  <a:lnTo>
                    <a:pt x="211475" y="159329"/>
                  </a:lnTo>
                  <a:lnTo>
                    <a:pt x="355600" y="0"/>
                  </a:lnTo>
                  <a:close/>
                </a:path>
              </a:pathLst>
            </a:custGeom>
            <a:solidFill>
              <a:srgbClr val="CBE368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88900" y="127000"/>
              <a:ext cx="533400" cy="52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963049" y="7042237"/>
            <a:ext cx="2203123" cy="1296825"/>
            <a:chOff x="0" y="0"/>
            <a:chExt cx="580246" cy="34155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80246" cy="341551"/>
            </a:xfrm>
            <a:custGeom>
              <a:avLst/>
              <a:gdLst/>
              <a:ahLst/>
              <a:cxnLst/>
              <a:rect l="l" t="t" r="r" b="b"/>
              <a:pathLst>
                <a:path w="580246" h="341551">
                  <a:moveTo>
                    <a:pt x="0" y="0"/>
                  </a:moveTo>
                  <a:lnTo>
                    <a:pt x="580246" y="0"/>
                  </a:lnTo>
                  <a:lnTo>
                    <a:pt x="580246" y="341551"/>
                  </a:lnTo>
                  <a:lnTo>
                    <a:pt x="0" y="341551"/>
                  </a:lnTo>
                  <a:close/>
                </a:path>
              </a:pathLst>
            </a:custGeom>
            <a:solidFill>
              <a:srgbClr val="225A8D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580246" cy="379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2104507" y="7160783"/>
            <a:ext cx="1920209" cy="62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RAG ENGINE INTEGRATION &amp; DUAL-MODE QUERYING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745436" y="3272986"/>
            <a:ext cx="1870002" cy="62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DEPLOYMENT VIA VS CODE OR RUN_CHATBOT.BAT</a:t>
            </a:r>
          </a:p>
        </p:txBody>
      </p:sp>
      <p:sp>
        <p:nvSpPr>
          <p:cNvPr id="49" name="AutoShape 49"/>
          <p:cNvSpPr/>
          <p:nvPr/>
        </p:nvSpPr>
        <p:spPr>
          <a:xfrm>
            <a:off x="10767060" y="1531875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7BFB53-7828-225D-934E-9CA5F7185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712" y="1943100"/>
            <a:ext cx="14396574" cy="80947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7B66D3-C4BF-4AD5-C7E8-98373033ED48}"/>
              </a:ext>
            </a:extLst>
          </p:cNvPr>
          <p:cNvSpPr txBox="1"/>
          <p:nvPr/>
        </p:nvSpPr>
        <p:spPr>
          <a:xfrm>
            <a:off x="2743200" y="4191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AE6F6A-541C-7C92-2027-A9438A9D8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431" y="597621"/>
            <a:ext cx="4411137" cy="92061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97137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3BB5CB-B73F-1441-3B61-39D0EB612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019" y="1943100"/>
            <a:ext cx="14361957" cy="80753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8CE2FE-498B-962D-947C-076F01702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430" y="571500"/>
            <a:ext cx="4411137" cy="92061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90524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3946946"/>
            <a:ext cx="18288000" cy="5311354"/>
            <a:chOff x="0" y="0"/>
            <a:chExt cx="5186228" cy="14971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86228" cy="1497157"/>
            </a:xfrm>
            <a:custGeom>
              <a:avLst/>
              <a:gdLst/>
              <a:ahLst/>
              <a:cxnLst/>
              <a:rect l="l" t="t" r="r" b="b"/>
              <a:pathLst>
                <a:path w="5186228" h="1497157">
                  <a:moveTo>
                    <a:pt x="0" y="0"/>
                  </a:moveTo>
                  <a:lnTo>
                    <a:pt x="5186228" y="0"/>
                  </a:lnTo>
                  <a:lnTo>
                    <a:pt x="5186228" y="1497157"/>
                  </a:lnTo>
                  <a:lnTo>
                    <a:pt x="0" y="14971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186228" cy="15352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742511"/>
            <a:ext cx="18288000" cy="1662545"/>
          </a:xfrm>
          <a:custGeom>
            <a:avLst/>
            <a:gdLst/>
            <a:ahLst/>
            <a:cxnLst/>
            <a:rect l="l" t="t" r="r" b="b"/>
            <a:pathLst>
              <a:path w="18288000" h="1662545">
                <a:moveTo>
                  <a:pt x="0" y="0"/>
                </a:moveTo>
                <a:lnTo>
                  <a:pt x="18288000" y="0"/>
                </a:lnTo>
                <a:lnTo>
                  <a:pt x="18288000" y="1662545"/>
                </a:lnTo>
                <a:lnTo>
                  <a:pt x="0" y="1662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" y="327441"/>
            <a:ext cx="18288000" cy="2670453"/>
            <a:chOff x="0" y="0"/>
            <a:chExt cx="5186228" cy="9972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6228" cy="997214"/>
            </a:xfrm>
            <a:custGeom>
              <a:avLst/>
              <a:gdLst/>
              <a:ahLst/>
              <a:cxnLst/>
              <a:rect l="l" t="t" r="r" b="b"/>
              <a:pathLst>
                <a:path w="5186228" h="997214">
                  <a:moveTo>
                    <a:pt x="0" y="0"/>
                  </a:moveTo>
                  <a:lnTo>
                    <a:pt x="5186228" y="0"/>
                  </a:lnTo>
                  <a:lnTo>
                    <a:pt x="5186228" y="997214"/>
                  </a:lnTo>
                  <a:lnTo>
                    <a:pt x="0" y="9972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186228" cy="1035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876260"/>
            <a:ext cx="7265287" cy="1178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19"/>
              </a:lnSpc>
            </a:pPr>
            <a:r>
              <a:rPr lang="en-US" sz="6870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REFERENCE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39528" y="3930011"/>
            <a:ext cx="14408945" cy="357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1"/>
              </a:lnSpc>
            </a:pPr>
            <a:r>
              <a:rPr lang="en-US" sz="2551" b="1" i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• FastAPI Documentation: https://fastapi.tiangolo.com/</a:t>
            </a:r>
          </a:p>
          <a:p>
            <a:pPr marL="0" lvl="0" indent="0" algn="l">
              <a:lnSpc>
                <a:spcPts val="3571"/>
              </a:lnSpc>
            </a:pPr>
            <a:r>
              <a:rPr lang="en-US" sz="2551" b="1" i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• Ollama Documentation: https://ollama.ai/</a:t>
            </a:r>
          </a:p>
          <a:p>
            <a:pPr marL="0" lvl="0" indent="0" algn="l">
              <a:lnSpc>
                <a:spcPts val="3571"/>
              </a:lnSpc>
            </a:pPr>
            <a:r>
              <a:rPr lang="en-US" sz="2551" b="1" i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• ChromaDB Documentation: https://docs.trychroma.com/</a:t>
            </a:r>
          </a:p>
          <a:p>
            <a:pPr marL="0" lvl="0" indent="0" algn="l">
              <a:lnSpc>
                <a:spcPts val="3571"/>
              </a:lnSpc>
            </a:pPr>
            <a:r>
              <a:rPr lang="en-US" sz="2551" b="1" i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• Llama 3.2 Model Documentation</a:t>
            </a:r>
          </a:p>
          <a:p>
            <a:pPr marL="0" lvl="0" indent="0" algn="l">
              <a:lnSpc>
                <a:spcPts val="3571"/>
              </a:lnSpc>
            </a:pPr>
            <a:r>
              <a:rPr lang="en-US" sz="2551" b="1" i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• Lewis, P. et al. (2020). "Retrieval-Augmented Generation for Knowledge-Intensive NLP Tasks"</a:t>
            </a:r>
          </a:p>
          <a:p>
            <a:pPr marL="0" lvl="0" indent="0" algn="l">
              <a:lnSpc>
                <a:spcPts val="3571"/>
              </a:lnSpc>
            </a:pPr>
            <a:r>
              <a:rPr lang="en-US" sz="2551" b="1" i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• pypdf Library Documentation: https://pypdf.readthedocs.io/</a:t>
            </a:r>
          </a:p>
          <a:p>
            <a:pPr marL="0" lvl="0" indent="0" algn="l">
              <a:lnSpc>
                <a:spcPts val="3571"/>
              </a:lnSpc>
            </a:pPr>
            <a:r>
              <a:rPr lang="en-US" sz="2551" b="1" i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• Vector Database Best Practices and Implementation Guides</a:t>
            </a:r>
          </a:p>
          <a:p>
            <a:pPr marL="0" lvl="0" indent="0" algn="l">
              <a:lnSpc>
                <a:spcPts val="3571"/>
              </a:lnSpc>
            </a:pPr>
            <a:r>
              <a:rPr lang="en-US" sz="2551" b="1" i="1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• RAG Architecture Research Papers and Case Studies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767060" y="1531875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574</Words>
  <Application>Microsoft Office PowerPoint</Application>
  <PresentationFormat>Custom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Playfair Display</vt:lpstr>
      <vt:lpstr>Calibri</vt:lpstr>
      <vt:lpstr>Playfair Display Bold</vt:lpstr>
      <vt:lpstr>Open Sans</vt:lpstr>
      <vt:lpstr>Arial</vt:lpstr>
      <vt:lpstr>Open Sans Bold</vt:lpstr>
      <vt:lpstr>Open Sans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AI Chatbot: RAG Knowledge Retrieval</dc:title>
  <dc:creator>hp</dc:creator>
  <cp:lastModifiedBy>Ujjwal Tiwari</cp:lastModifiedBy>
  <cp:revision>3</cp:revision>
  <dcterms:created xsi:type="dcterms:W3CDTF">2006-08-16T00:00:00Z</dcterms:created>
  <dcterms:modified xsi:type="dcterms:W3CDTF">2026-04-19T12:15:17Z</dcterms:modified>
  <dc:identifier>DAHF-IDIWlg</dc:identifier>
</cp:coreProperties>
</file>